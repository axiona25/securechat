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 varScale="1">
        <p:scale>
          <a:sx n="225" d="100"/>
          <a:sy n="225" d="100"/>
        </p:scale>
        <p:origin x="18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5181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BDB0"/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2A8C84">
              <a:alpha val="25000"/>
            </a:srgbClr>
          </a:solidFill>
          <a:ln w="12700">
            <a:solidFill>
              <a:srgbClr val="2A8C8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7772400" y="-457200"/>
            <a:ext cx="2011680" cy="2011680"/>
          </a:xfrm>
          <a:prstGeom prst="ellipse">
            <a:avLst/>
          </a:prstGeom>
          <a:solidFill>
            <a:srgbClr val="5CBDB0">
              <a:alpha val="40000"/>
            </a:srgbClr>
          </a:solidFill>
          <a:ln w="12700">
            <a:solidFill>
              <a:srgbClr val="5CBDB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367974"/>
            <a:ext cx="2926080" cy="9922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5544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Comunicazione Enterprise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02920" y="2176272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5C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Sicura e Privata.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0292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Messaggistica E2E · VoIP Cifrato · Admin Panel · GDPR Compliant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3401568"/>
            <a:ext cx="4572000" cy="0"/>
          </a:xfrm>
          <a:prstGeom prst="line">
            <a:avLst/>
          </a:prstGeom>
          <a:noFill/>
          <a:ln w="1905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7"/>
          <p:cNvSpPr/>
          <p:nvPr/>
        </p:nvSpPr>
        <p:spPr>
          <a:xfrm>
            <a:off x="502920" y="3657600"/>
            <a:ext cx="1600200" cy="347472"/>
          </a:xfrm>
          <a:prstGeom prst="roundRect">
            <a:avLst>
              <a:gd name="adj" fmla="val 13158"/>
            </a:avLst>
          </a:prstGeom>
          <a:solidFill>
            <a:srgbClr val="2A8C84">
              <a:alpha val="60000"/>
            </a:srgbClr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502920" y="36576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Protocol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331720" y="3657600"/>
            <a:ext cx="1600200" cy="347472"/>
          </a:xfrm>
          <a:prstGeom prst="roundRect">
            <a:avLst>
              <a:gd name="adj" fmla="val 13158"/>
            </a:avLst>
          </a:prstGeom>
          <a:solidFill>
            <a:srgbClr val="2A8C84">
              <a:alpha val="60000"/>
            </a:srgbClr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2331720" y="36576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Native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794760" y="3657600"/>
            <a:ext cx="1600200" cy="347472"/>
          </a:xfrm>
          <a:prstGeom prst="roundRect">
            <a:avLst>
              <a:gd name="adj" fmla="val 13158"/>
            </a:avLst>
          </a:prstGeom>
          <a:solidFill>
            <a:srgbClr val="2A8C84">
              <a:alpha val="60000"/>
            </a:srgbClr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3794760" y="36576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Proprietario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897880" y="3657600"/>
            <a:ext cx="1600200" cy="347472"/>
          </a:xfrm>
          <a:prstGeom prst="roundRect">
            <a:avLst>
              <a:gd name="adj" fmla="val 13158"/>
            </a:avLst>
          </a:prstGeom>
          <a:solidFill>
            <a:srgbClr val="2A8C84">
              <a:alpha val="60000"/>
            </a:srgbClr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5897880" y="36576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EU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54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Commerciale — Marzo 2026 — Riservato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36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C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1089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aziende comunicano in modo non sicuro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51760" cy="3474720"/>
          </a:xfrm>
          <a:prstGeom prst="rect">
            <a:avLst/>
          </a:prstGeom>
          <a:solidFill>
            <a:srgbClr val="FFF8E8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65176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143000"/>
            <a:ext cx="548640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325880" y="1097280"/>
            <a:ext cx="640080" cy="6400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14300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esposti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200" y="242316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Telegram e Teams archiviano i messaggi sui loro server. L'azienda non controlla i propri dati.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00400" y="1005840"/>
            <a:ext cx="2651760" cy="3474720"/>
          </a:xfrm>
          <a:prstGeom prst="rect">
            <a:avLst/>
          </a:prstGeom>
          <a:solidFill>
            <a:srgbClr val="FFF0F0"/>
          </a:solidFill>
          <a:ln w="19050">
            <a:solidFill>
              <a:srgbClr val="E545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9"/>
          <p:cNvSpPr/>
          <p:nvPr/>
        </p:nvSpPr>
        <p:spPr>
          <a:xfrm>
            <a:off x="3200400" y="1005840"/>
            <a:ext cx="2651760" cy="73152"/>
          </a:xfrm>
          <a:prstGeom prst="rect">
            <a:avLst/>
          </a:prstGeom>
          <a:solidFill>
            <a:srgbClr val="E5453A"/>
          </a:solidFill>
          <a:ln w="12700">
            <a:solidFill>
              <a:srgbClr val="E545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143000"/>
            <a:ext cx="548640" cy="54864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206240" y="1097280"/>
            <a:ext cx="640080" cy="640080"/>
          </a:xfrm>
          <a:prstGeom prst="ellipse">
            <a:avLst/>
          </a:prstGeom>
          <a:solidFill>
            <a:srgbClr val="E5453A"/>
          </a:solidFill>
          <a:ln w="12700">
            <a:solidFill>
              <a:srgbClr val="E5453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143000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33756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controllo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3337560" y="242316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Impossibile bloccare un dispositivo smarrito, monitorare i device aziendali o gestire le sessioni in tempo reale.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80760" y="1005840"/>
            <a:ext cx="2651760" cy="3474720"/>
          </a:xfrm>
          <a:prstGeom prst="rect">
            <a:avLst/>
          </a:prstGeom>
          <a:solidFill>
            <a:srgbClr val="FFF8E8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4"/>
          <p:cNvSpPr/>
          <p:nvPr/>
        </p:nvSpPr>
        <p:spPr>
          <a:xfrm>
            <a:off x="6080760" y="1005840"/>
            <a:ext cx="265176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143000"/>
            <a:ext cx="548640" cy="54864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7086600" y="1097280"/>
            <a:ext cx="640080" cy="6400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143000"/>
            <a:ext cx="548640" cy="54864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21792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GDPR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6217920" y="242316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principali strumenti di messaggistica archiviano dati fuori dall'UE, esponendo l'azienda a rischi normativi.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7" name="Image 6" descr="/mnt/user-data/outputs/Logo_SecureChat_transpar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4919472"/>
            <a:ext cx="1371600" cy="4663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2A8C84"/>
          </a:solidFill>
          <a:ln w="12700">
            <a:solidFill>
              <a:srgbClr val="2A8C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C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SOLUZIONE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SecureChat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Messaggistica privata</a:t>
            </a:r>
            <a:r>
              <a:rPr lang="en-US" sz="1400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cifrata progettata per le aziende che non possono permettersi compromessi sulla sicurezza.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74320" cy="274320"/>
          </a:xfrm>
          <a:prstGeom prst="ellipse">
            <a:avLst/>
          </a:prstGeom>
          <a:solidFill>
            <a:srgbClr val="5CBDB0"/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proprietario — i dati restano tuoi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70048"/>
            <a:ext cx="274320" cy="274320"/>
          </a:xfrm>
          <a:prstGeom prst="ellipse">
            <a:avLst/>
          </a:prstGeom>
          <a:solidFill>
            <a:srgbClr val="5CBDB0"/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822960" y="26700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Cifratura E2E Signal Protocol (AES-256)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45536"/>
            <a:ext cx="274320" cy="274320"/>
          </a:xfrm>
          <a:prstGeom prst="ellipse">
            <a:avLst/>
          </a:prstGeom>
          <a:solidFill>
            <a:srgbClr val="5CBDB0"/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822960" y="314553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 completo con device management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21024"/>
            <a:ext cx="274320" cy="274320"/>
          </a:xfrm>
          <a:prstGeom prst="ellipse">
            <a:avLst/>
          </a:prstGeom>
          <a:solidFill>
            <a:srgbClr val="5CBDB0"/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822960" y="362102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VoIP e videochiamate cifrate end-to-end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096512"/>
            <a:ext cx="274320" cy="274320"/>
          </a:xfrm>
          <a:prstGeom prst="ellipse">
            <a:avLst/>
          </a:prstGeom>
          <a:solidFill>
            <a:srgbClr val="5CBDB0"/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822960" y="409651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compliant — datacenter EU (Francoforte)</a:t>
            </a:r>
            <a:endParaRPr lang="en-US" sz="1300" dirty="0"/>
          </a:p>
        </p:txBody>
      </p:sp>
      <p:pic>
        <p:nvPicPr>
          <p:cNvPr id="16" name="Image 0" descr="/mnt/user-data/outputs/Logo_SecureChat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320040"/>
            <a:ext cx="2560320" cy="8686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852160" y="1417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compromise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sulla sicurezza.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6309360" y="2606040"/>
            <a:ext cx="201168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5852160" y="27432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"Il server non vede mai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contenuto dei messaggi."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852160" y="3931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Server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FUNZIONALITÀ CHIAVE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73152"/>
          </a:xfrm>
          <a:prstGeom prst="rect">
            <a:avLst/>
          </a:prstGeom>
          <a:solidFill>
            <a:srgbClr val="5CBDB0"/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11480" y="1124712"/>
            <a:ext cx="475488" cy="475488"/>
          </a:xfrm>
          <a:prstGeom prst="ellipse">
            <a:avLst/>
          </a:prstGeom>
          <a:solidFill>
            <a:srgbClr val="5CBDB0"/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152144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10789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Messaggistica E2E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84048" y="16459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Testo, immagini, video, audio, file, vocali, posizioni. Reply, reazioni, modifica, eliminazione.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9601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3200400" y="960120"/>
            <a:ext cx="2743200" cy="73152"/>
          </a:xfrm>
          <a:prstGeom prst="rect">
            <a:avLst/>
          </a:prstGeom>
          <a:solidFill>
            <a:srgbClr val="5AAEE0"/>
          </a:solidFill>
          <a:ln w="12700">
            <a:solidFill>
              <a:srgbClr val="5AAE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3337560" y="1124712"/>
            <a:ext cx="475488" cy="475488"/>
          </a:xfrm>
          <a:prstGeom prst="ellipse">
            <a:avLst/>
          </a:prstGeom>
          <a:solidFill>
            <a:srgbClr val="5AAEE0"/>
          </a:solidFill>
          <a:ln w="12700">
            <a:solidFill>
              <a:srgbClr val="5AAE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152144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13632" y="10789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VoIP &amp; Videochiamate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10128" y="16459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Chiamate audio e video cifrate. Ricezione con app killed tramite CallKit e VoIP push.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9601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3"/>
          <p:cNvSpPr/>
          <p:nvPr/>
        </p:nvSpPr>
        <p:spPr>
          <a:xfrm>
            <a:off x="6126480" y="960120"/>
            <a:ext cx="2743200" cy="73152"/>
          </a:xfrm>
          <a:prstGeom prst="rect">
            <a:avLst/>
          </a:prstGeom>
          <a:solidFill>
            <a:srgbClr val="2D3A5C"/>
          </a:solidFill>
          <a:ln w="12700">
            <a:solidFill>
              <a:srgbClr val="2D3A5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6263640" y="1124712"/>
            <a:ext cx="475488" cy="475488"/>
          </a:xfrm>
          <a:prstGeom prst="ellipse">
            <a:avLst/>
          </a:prstGeom>
          <a:solidFill>
            <a:srgbClr val="2D3A5C"/>
          </a:solidFill>
          <a:ln w="12700">
            <a:solidFill>
              <a:srgbClr val="2D3A5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152144"/>
            <a:ext cx="420624" cy="4206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39712" y="10789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Protocol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36208" y="16459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X3DH + Double Ratchet (AES-256-GCM). Forward secrecy garantita. Chiavi solo sui dispositivi.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274320" y="28803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18"/>
          <p:cNvSpPr/>
          <p:nvPr/>
        </p:nvSpPr>
        <p:spPr>
          <a:xfrm>
            <a:off x="274320" y="2880360"/>
            <a:ext cx="2743200" cy="73152"/>
          </a:xfrm>
          <a:prstGeom prst="rect">
            <a:avLst/>
          </a:prstGeom>
          <a:solidFill>
            <a:srgbClr val="2A8C84"/>
          </a:solidFill>
          <a:ln w="12700">
            <a:solidFill>
              <a:srgbClr val="2A8C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19"/>
          <p:cNvSpPr/>
          <p:nvPr/>
        </p:nvSpPr>
        <p:spPr>
          <a:xfrm>
            <a:off x="411480" y="3044952"/>
            <a:ext cx="475488" cy="475488"/>
          </a:xfrm>
          <a:prstGeom prst="ellipse">
            <a:avLst/>
          </a:prstGeom>
          <a:solidFill>
            <a:srgbClr val="2A8C84"/>
          </a:solidFill>
          <a:ln w="12700">
            <a:solidFill>
              <a:srgbClr val="2A8C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072384"/>
            <a:ext cx="420624" cy="42062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87552" y="29992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Gruppi E2E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384048" y="35661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di gruppo con cifratura multi-recipient X3DH. Ruoli admin/member, avatar, gestione membri.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200400" y="28803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Shape 23"/>
          <p:cNvSpPr/>
          <p:nvPr/>
        </p:nvSpPr>
        <p:spPr>
          <a:xfrm>
            <a:off x="3200400" y="2880360"/>
            <a:ext cx="27432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4"/>
          <p:cNvSpPr/>
          <p:nvPr/>
        </p:nvSpPr>
        <p:spPr>
          <a:xfrm>
            <a:off x="3337560" y="3044952"/>
            <a:ext cx="475488" cy="47548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072384"/>
            <a:ext cx="420624" cy="42062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913632" y="29992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Management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3310128" y="35661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tracking, mappa Leaflet, blocco device con logout forzato in real-time via WebSocket.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126480" y="288036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Shape 28"/>
          <p:cNvSpPr/>
          <p:nvPr/>
        </p:nvSpPr>
        <p:spPr>
          <a:xfrm>
            <a:off x="6126480" y="2880360"/>
            <a:ext cx="2743200" cy="73152"/>
          </a:xfrm>
          <a:prstGeom prst="rect">
            <a:avLst/>
          </a:prstGeom>
          <a:solidFill>
            <a:srgbClr val="7AB850"/>
          </a:solidFill>
          <a:ln w="12700">
            <a:solidFill>
              <a:srgbClr val="7AB85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Shape 29"/>
          <p:cNvSpPr/>
          <p:nvPr/>
        </p:nvSpPr>
        <p:spPr>
          <a:xfrm>
            <a:off x="6263640" y="3044952"/>
            <a:ext cx="475488" cy="475488"/>
          </a:xfrm>
          <a:prstGeom prst="ellipse">
            <a:avLst/>
          </a:prstGeom>
          <a:solidFill>
            <a:srgbClr val="7AB850"/>
          </a:solidFill>
          <a:ln w="12700">
            <a:solidFill>
              <a:srgbClr val="7AB85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072" y="3072384"/>
            <a:ext cx="420624" cy="42062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839712" y="29992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6236208" y="35661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utenti, dispositivi, chat, impostazioni, backup su DigitalOcean Spaces.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1" name="Image 6" descr="/mnt/user-data/outputs/Logo_SecureChat_transpare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320" y="4919472"/>
            <a:ext cx="1371600" cy="4663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2A8C84">
              <a:alpha val="20000"/>
            </a:srgbClr>
          </a:solidFill>
          <a:ln w="12700">
            <a:solidFill>
              <a:srgbClr val="2A8C8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5CBDB0">
              <a:alpha val="15000"/>
            </a:srgbClr>
          </a:solidFill>
          <a:ln w="12700">
            <a:solidFill>
              <a:srgbClr val="5CBDB0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C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SICUREZZA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Zero-Knowledge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1920240" cy="1417320"/>
          </a:xfrm>
          <a:prstGeom prst="rect">
            <a:avLst/>
          </a:prstGeom>
          <a:solidFill>
            <a:srgbClr val="2A8C84">
              <a:alpha val="50000"/>
            </a:srgbClr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Cifratura simmetrica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40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militare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280160"/>
            <a:ext cx="1920240" cy="1417320"/>
          </a:xfrm>
          <a:prstGeom prst="rect">
            <a:avLst/>
          </a:prstGeom>
          <a:solidFill>
            <a:srgbClr val="2A8C84">
              <a:alpha val="50000"/>
            </a:srgbClr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2468880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X3DH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6888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Exchange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240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Protocol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280160"/>
            <a:ext cx="1920240" cy="1417320"/>
          </a:xfrm>
          <a:prstGeom prst="rect">
            <a:avLst/>
          </a:prstGeom>
          <a:solidFill>
            <a:srgbClr val="2A8C84">
              <a:alpha val="50000"/>
            </a:srgbClr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572000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DTLS-SRTP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Chiamate cifrate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2240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75120" y="1280160"/>
            <a:ext cx="1920240" cy="1417320"/>
          </a:xfrm>
          <a:prstGeom prst="rect">
            <a:avLst/>
          </a:prstGeom>
          <a:solidFill>
            <a:srgbClr val="2A8C84">
              <a:alpha val="50000"/>
            </a:srgbClr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675120" y="1325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75120" y="1920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Trasporto dati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75120" y="2240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 versione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2560320" cy="1920240"/>
          </a:xfrm>
          <a:prstGeom prst="rect">
            <a:avLst/>
          </a:prstGeom>
          <a:solidFill>
            <a:srgbClr val="2D3A5C">
              <a:alpha val="70000"/>
            </a:srgbClr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1463040" y="2999232"/>
            <a:ext cx="548640" cy="548640"/>
          </a:xfrm>
          <a:prstGeom prst="ellipse">
            <a:avLst/>
          </a:prstGeom>
          <a:solidFill>
            <a:srgbClr val="5CBDB0"/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472" y="3026664"/>
            <a:ext cx="493776" cy="49377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48640" y="3611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Chiavi solo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dispositivi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66928" y="4133088"/>
            <a:ext cx="2340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chiavi private non lasciano mai il dispositivo. iOS Keychain hardware-backed.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291840" y="2926080"/>
            <a:ext cx="2560320" cy="1920240"/>
          </a:xfrm>
          <a:prstGeom prst="rect">
            <a:avLst/>
          </a:prstGeom>
          <a:solidFill>
            <a:srgbClr val="2D3A5C">
              <a:alpha val="70000"/>
            </a:srgbClr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5"/>
          <p:cNvSpPr/>
          <p:nvPr/>
        </p:nvSpPr>
        <p:spPr>
          <a:xfrm>
            <a:off x="4297680" y="2999232"/>
            <a:ext cx="548640" cy="548640"/>
          </a:xfrm>
          <a:prstGeom prst="ellipse">
            <a:avLst/>
          </a:prstGeom>
          <a:solidFill>
            <a:srgbClr val="5CBDB0"/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112" y="3026664"/>
            <a:ext cx="493776" cy="493776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3383280" y="3611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3401568" y="4133088"/>
            <a:ext cx="2340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server archivia solo contenuto cifrato — impossibile decifrare anche con accesso root.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6126480" y="2926080"/>
            <a:ext cx="2560320" cy="1920240"/>
          </a:xfrm>
          <a:prstGeom prst="rect">
            <a:avLst/>
          </a:prstGeom>
          <a:solidFill>
            <a:srgbClr val="2D3A5C">
              <a:alpha val="70000"/>
            </a:srgbClr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29"/>
          <p:cNvSpPr/>
          <p:nvPr/>
        </p:nvSpPr>
        <p:spPr>
          <a:xfrm>
            <a:off x="7132320" y="2999232"/>
            <a:ext cx="548640" cy="548640"/>
          </a:xfrm>
          <a:prstGeom prst="ellipse">
            <a:avLst/>
          </a:prstGeom>
          <a:solidFill>
            <a:srgbClr val="5CBDB0"/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752" y="3026664"/>
            <a:ext cx="493776" cy="49377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217920" y="3611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Secrecy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6236208" y="4133088"/>
            <a:ext cx="2340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messaggio usa una chiave unica. La compromissione di una chiave non espone gli altri messaggi.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PANNELLO AMMINISTRATIVO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totale — in tempo reale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606040" cy="1170432"/>
          </a:xfrm>
          <a:prstGeom prst="rect">
            <a:avLst/>
          </a:prstGeom>
          <a:solidFill>
            <a:srgbClr val="ECF8F5"/>
          </a:solidFill>
          <a:ln w="12700">
            <a:solidFill>
              <a:srgbClr val="E4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64008" cy="1170432"/>
          </a:xfrm>
          <a:prstGeom prst="rect">
            <a:avLst/>
          </a:prstGeom>
          <a:solidFill>
            <a:srgbClr val="5CBDB0"/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38912" y="1097280"/>
            <a:ext cx="457200" cy="457200"/>
          </a:xfrm>
          <a:prstGeom prst="ellipse">
            <a:avLst/>
          </a:prstGeom>
          <a:solidFill>
            <a:srgbClr val="5CBDB0"/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112471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0515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14173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Statistiche real-time: utenti, messaggi, device, storage, attività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108960" y="960120"/>
            <a:ext cx="2606040" cy="1170432"/>
          </a:xfrm>
          <a:prstGeom prst="rect">
            <a:avLst/>
          </a:prstGeom>
          <a:solidFill>
            <a:srgbClr val="ECF8F5"/>
          </a:solidFill>
          <a:ln w="12700">
            <a:solidFill>
              <a:srgbClr val="E4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3108960" y="960120"/>
            <a:ext cx="64008" cy="1170432"/>
          </a:xfrm>
          <a:prstGeom prst="rect">
            <a:avLst/>
          </a:prstGeom>
          <a:solidFill>
            <a:srgbClr val="5AAEE0"/>
          </a:solidFill>
          <a:ln w="12700">
            <a:solidFill>
              <a:srgbClr val="5AAE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3273552" y="1097280"/>
            <a:ext cx="457200" cy="457200"/>
          </a:xfrm>
          <a:prstGeom prst="ellipse">
            <a:avLst/>
          </a:prstGeom>
          <a:solidFill>
            <a:srgbClr val="5AAEE0"/>
          </a:solidFill>
          <a:ln w="12700">
            <a:solidFill>
              <a:srgbClr val="5AAE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1124712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40480" y="10515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Utenti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840480" y="141732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Creazione, modifica, blocco, reset password, invio credenziali email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74320" y="2267712"/>
            <a:ext cx="2606040" cy="1170432"/>
          </a:xfrm>
          <a:prstGeom prst="rect">
            <a:avLst/>
          </a:prstGeom>
          <a:solidFill>
            <a:srgbClr val="ECF8F5"/>
          </a:solidFill>
          <a:ln w="12700">
            <a:solidFill>
              <a:srgbClr val="E4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274320" y="2267712"/>
            <a:ext cx="64008" cy="1170432"/>
          </a:xfrm>
          <a:prstGeom prst="rect">
            <a:avLst/>
          </a:prstGeom>
          <a:solidFill>
            <a:srgbClr val="2D3A5C"/>
          </a:solidFill>
          <a:ln w="12700">
            <a:solidFill>
              <a:srgbClr val="2D3A5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5"/>
          <p:cNvSpPr/>
          <p:nvPr/>
        </p:nvSpPr>
        <p:spPr>
          <a:xfrm>
            <a:off x="438912" y="2404872"/>
            <a:ext cx="457200" cy="457200"/>
          </a:xfrm>
          <a:prstGeom prst="ellipse">
            <a:avLst/>
          </a:prstGeom>
          <a:solidFill>
            <a:srgbClr val="2D3A5C"/>
          </a:solidFill>
          <a:ln w="12700">
            <a:solidFill>
              <a:srgbClr val="2D3A5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" y="2432304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05840" y="23591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Dispositivi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005840" y="272491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device, GPS, mappa Leaflet, blocco/sblocco in real-time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108960" y="2267712"/>
            <a:ext cx="2606040" cy="1170432"/>
          </a:xfrm>
          <a:prstGeom prst="rect">
            <a:avLst/>
          </a:prstGeom>
          <a:solidFill>
            <a:srgbClr val="ECF8F5"/>
          </a:solidFill>
          <a:ln w="12700">
            <a:solidFill>
              <a:srgbClr val="E4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19"/>
          <p:cNvSpPr/>
          <p:nvPr/>
        </p:nvSpPr>
        <p:spPr>
          <a:xfrm>
            <a:off x="3108960" y="2267712"/>
            <a:ext cx="64008" cy="1170432"/>
          </a:xfrm>
          <a:prstGeom prst="rect">
            <a:avLst/>
          </a:prstGeom>
          <a:solidFill>
            <a:srgbClr val="2A8C84"/>
          </a:solidFill>
          <a:ln w="12700">
            <a:solidFill>
              <a:srgbClr val="2A8C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0"/>
          <p:cNvSpPr/>
          <p:nvPr/>
        </p:nvSpPr>
        <p:spPr>
          <a:xfrm>
            <a:off x="3273552" y="2404872"/>
            <a:ext cx="457200" cy="457200"/>
          </a:xfrm>
          <a:prstGeom prst="ellipse">
            <a:avLst/>
          </a:prstGeom>
          <a:solidFill>
            <a:srgbClr val="2A8C84"/>
          </a:solidFill>
          <a:ln w="12700">
            <a:solidFill>
              <a:srgbClr val="2A8C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0984" y="2432304"/>
            <a:ext cx="402336" cy="40233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840480" y="23591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E2E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3840480" y="272491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 messaggi cifrati, allegati, storico chiamate, simulatore TURN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274320" y="3575304"/>
            <a:ext cx="2606040" cy="1170432"/>
          </a:xfrm>
          <a:prstGeom prst="rect">
            <a:avLst/>
          </a:prstGeom>
          <a:solidFill>
            <a:srgbClr val="ECF8F5"/>
          </a:solidFill>
          <a:ln w="12700">
            <a:solidFill>
              <a:srgbClr val="E4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Shape 24"/>
          <p:cNvSpPr/>
          <p:nvPr/>
        </p:nvSpPr>
        <p:spPr>
          <a:xfrm>
            <a:off x="274320" y="3575304"/>
            <a:ext cx="64008" cy="1170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5"/>
          <p:cNvSpPr/>
          <p:nvPr/>
        </p:nvSpPr>
        <p:spPr>
          <a:xfrm>
            <a:off x="438912" y="3712464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" y="3739896"/>
            <a:ext cx="402336" cy="40233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05840" y="36667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Notifiche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1005840" y="4032504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APNs produzione, banner in-app, badge conteggio non letti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3108960" y="3575304"/>
            <a:ext cx="2606040" cy="1170432"/>
          </a:xfrm>
          <a:prstGeom prst="rect">
            <a:avLst/>
          </a:prstGeom>
          <a:solidFill>
            <a:srgbClr val="ECF8F5"/>
          </a:solidFill>
          <a:ln w="12700">
            <a:solidFill>
              <a:srgbClr val="E4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6" name="Shape 29"/>
          <p:cNvSpPr/>
          <p:nvPr/>
        </p:nvSpPr>
        <p:spPr>
          <a:xfrm>
            <a:off x="3108960" y="3575304"/>
            <a:ext cx="64008" cy="1170432"/>
          </a:xfrm>
          <a:prstGeom prst="rect">
            <a:avLst/>
          </a:prstGeom>
          <a:solidFill>
            <a:srgbClr val="7AB850"/>
          </a:solidFill>
          <a:ln w="12700">
            <a:solidFill>
              <a:srgbClr val="7AB85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30"/>
          <p:cNvSpPr/>
          <p:nvPr/>
        </p:nvSpPr>
        <p:spPr>
          <a:xfrm>
            <a:off x="3273552" y="3712464"/>
            <a:ext cx="457200" cy="457200"/>
          </a:xfrm>
          <a:prstGeom prst="ellipse">
            <a:avLst/>
          </a:prstGeom>
          <a:solidFill>
            <a:srgbClr val="7AB850"/>
          </a:solidFill>
          <a:ln w="12700">
            <a:solidFill>
              <a:srgbClr val="7AB85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0984" y="3739896"/>
            <a:ext cx="402336" cy="40233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3840480" y="36667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Impostazioni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3840480" y="4032504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Connettori SMTP, Spaces, APNs, TURN — backup e wipe DB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5943600" y="914400"/>
            <a:ext cx="2926080" cy="3931920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2" name="Text 34"/>
          <p:cNvSpPr/>
          <p:nvPr/>
        </p:nvSpPr>
        <p:spPr>
          <a:xfrm>
            <a:off x="6080760" y="1051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5C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Admin Panel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6080760" y="13716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axphone.it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/admin-panel/</a:t>
            </a:r>
            <a:endParaRPr lang="en-US" sz="1600" dirty="0"/>
          </a:p>
        </p:txBody>
      </p:sp>
      <p:sp>
        <p:nvSpPr>
          <p:cNvPr id="44" name="Shape 36"/>
          <p:cNvSpPr/>
          <p:nvPr/>
        </p:nvSpPr>
        <p:spPr>
          <a:xfrm>
            <a:off x="6217920" y="2148840"/>
            <a:ext cx="2377440" cy="0"/>
          </a:xfrm>
          <a:prstGeom prst="line">
            <a:avLst/>
          </a:prstGeom>
          <a:noFill/>
          <a:ln w="12700">
            <a:solidFill>
              <a:srgbClr val="5CBDB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Shape 37"/>
          <p:cNvSpPr/>
          <p:nvPr/>
        </p:nvSpPr>
        <p:spPr>
          <a:xfrm>
            <a:off x="6172200" y="2304288"/>
            <a:ext cx="182880" cy="182880"/>
          </a:xfrm>
          <a:prstGeom prst="ellipse">
            <a:avLst/>
          </a:prstGeom>
          <a:solidFill>
            <a:srgbClr val="5CBDB0"/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38"/>
          <p:cNvSpPr/>
          <p:nvPr/>
        </p:nvSpPr>
        <p:spPr>
          <a:xfrm>
            <a:off x="6446520" y="22677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tracking device aziendali</a:t>
            </a:r>
            <a:endParaRPr lang="en-US" sz="1100" dirty="0"/>
          </a:p>
        </p:txBody>
      </p:sp>
      <p:sp>
        <p:nvSpPr>
          <p:cNvPr id="47" name="Shape 39"/>
          <p:cNvSpPr/>
          <p:nvPr/>
        </p:nvSpPr>
        <p:spPr>
          <a:xfrm>
            <a:off x="6172200" y="2688336"/>
            <a:ext cx="182880" cy="182880"/>
          </a:xfrm>
          <a:prstGeom prst="ellipse">
            <a:avLst/>
          </a:prstGeom>
          <a:solidFill>
            <a:srgbClr val="5CBDB0"/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0"/>
          <p:cNvSpPr/>
          <p:nvPr/>
        </p:nvSpPr>
        <p:spPr>
          <a:xfrm>
            <a:off x="6446520" y="2651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Blocco device → logout istantaneo</a:t>
            </a:r>
            <a:endParaRPr lang="en-US" sz="1100" dirty="0"/>
          </a:p>
        </p:txBody>
      </p:sp>
      <p:sp>
        <p:nvSpPr>
          <p:cNvPr id="49" name="Shape 41"/>
          <p:cNvSpPr/>
          <p:nvPr/>
        </p:nvSpPr>
        <p:spPr>
          <a:xfrm>
            <a:off x="6172200" y="3072384"/>
            <a:ext cx="182880" cy="182880"/>
          </a:xfrm>
          <a:prstGeom prst="ellipse">
            <a:avLst/>
          </a:prstGeom>
          <a:solidFill>
            <a:srgbClr val="5CBDB0"/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2"/>
          <p:cNvSpPr/>
          <p:nvPr/>
        </p:nvSpPr>
        <p:spPr>
          <a:xfrm>
            <a:off x="6446520" y="30358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DB su DigitalOcean Spaces</a:t>
            </a:r>
            <a:endParaRPr lang="en-US" sz="1100" dirty="0"/>
          </a:p>
        </p:txBody>
      </p:sp>
      <p:sp>
        <p:nvSpPr>
          <p:cNvPr id="51" name="Shape 43"/>
          <p:cNvSpPr/>
          <p:nvPr/>
        </p:nvSpPr>
        <p:spPr>
          <a:xfrm>
            <a:off x="6172200" y="3456432"/>
            <a:ext cx="182880" cy="182880"/>
          </a:xfrm>
          <a:prstGeom prst="ellipse">
            <a:avLst/>
          </a:prstGeom>
          <a:solidFill>
            <a:srgbClr val="5CBDB0"/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44"/>
          <p:cNvSpPr/>
          <p:nvPr/>
        </p:nvSpPr>
        <p:spPr>
          <a:xfrm>
            <a:off x="6446520" y="341985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Simulatore intercettazione TURN</a:t>
            </a:r>
            <a:endParaRPr lang="en-US" sz="1100" dirty="0"/>
          </a:p>
        </p:txBody>
      </p:sp>
      <p:sp>
        <p:nvSpPr>
          <p:cNvPr id="53" name="Shape 45"/>
          <p:cNvSpPr/>
          <p:nvPr/>
        </p:nvSpPr>
        <p:spPr>
          <a:xfrm>
            <a:off x="6172200" y="3840480"/>
            <a:ext cx="182880" cy="182880"/>
          </a:xfrm>
          <a:prstGeom prst="ellipse">
            <a:avLst/>
          </a:prstGeom>
          <a:solidFill>
            <a:srgbClr val="5CBDB0"/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46"/>
          <p:cNvSpPr/>
          <p:nvPr/>
        </p:nvSpPr>
        <p:spPr>
          <a:xfrm>
            <a:off x="6446520" y="38039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 database GDPR-compliant</a:t>
            </a:r>
            <a:endParaRPr lang="en-US" sz="1100" dirty="0"/>
          </a:p>
        </p:txBody>
      </p:sp>
      <p:sp>
        <p:nvSpPr>
          <p:cNvPr id="55" name="Shape 47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6" name="Image 6" descr="/mnt/user-data/outputs/Logo_SecureChat_transpare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320" y="4919472"/>
            <a:ext cx="1371600" cy="4663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A8C84"/>
          </a:solidFill>
          <a:ln w="12700">
            <a:solidFill>
              <a:srgbClr val="2A8C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D'USO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2011680" cy="73152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923544" y="1097280"/>
            <a:ext cx="658368" cy="658368"/>
          </a:xfrm>
          <a:prstGeom prst="ellipse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124712"/>
            <a:ext cx="603504" cy="603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92024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Forze dell'Ordine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Intelligence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2606040"/>
            <a:ext cx="17922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Comunicazioni operative sicure. Coordinamento missioni con cifratura E2E e chiamate VoIP irrintracciabili.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32304" y="91440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2432304" y="914400"/>
            <a:ext cx="2011680" cy="73152"/>
          </a:xfrm>
          <a:prstGeom prst="rect">
            <a:avLst/>
          </a:prstGeom>
          <a:solidFill>
            <a:srgbClr val="2A8C84"/>
          </a:solidFill>
          <a:ln w="12700">
            <a:solidFill>
              <a:srgbClr val="2A8C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3099816" y="1097280"/>
            <a:ext cx="658368" cy="658368"/>
          </a:xfrm>
          <a:prstGeom prst="ellipse">
            <a:avLst/>
          </a:prstGeom>
          <a:solidFill>
            <a:srgbClr val="2A8C84"/>
          </a:solidFill>
          <a:ln w="12700">
            <a:solidFill>
              <a:srgbClr val="2A8C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1124712"/>
            <a:ext cx="603504" cy="6035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42032" y="192024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Studio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542032" y="2606040"/>
            <a:ext cx="17922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Scambio documenti riservati, comunicazioni cliente-avvocato protette da cifratura end-to-end.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608576" y="91440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3"/>
          <p:cNvSpPr/>
          <p:nvPr/>
        </p:nvSpPr>
        <p:spPr>
          <a:xfrm>
            <a:off x="4608576" y="914400"/>
            <a:ext cx="2011680" cy="73152"/>
          </a:xfrm>
          <a:prstGeom prst="rect">
            <a:avLst/>
          </a:prstGeom>
          <a:solidFill>
            <a:srgbClr val="5AAEE0"/>
          </a:solidFill>
          <a:ln w="12700">
            <a:solidFill>
              <a:srgbClr val="5AAE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5276088" y="1097280"/>
            <a:ext cx="658368" cy="658368"/>
          </a:xfrm>
          <a:prstGeom prst="ellipse">
            <a:avLst/>
          </a:prstGeom>
          <a:solidFill>
            <a:srgbClr val="5AAEE0"/>
          </a:solidFill>
          <a:ln w="12700">
            <a:solidFill>
              <a:srgbClr val="5AAE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1124712"/>
            <a:ext cx="603504" cy="60350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18304" y="192024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718304" y="2606040"/>
            <a:ext cx="17922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Comunicazioni tra trader, dirigenti e compliance. Nessun dato su server di terzi.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784848" y="91440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18"/>
          <p:cNvSpPr/>
          <p:nvPr/>
        </p:nvSpPr>
        <p:spPr>
          <a:xfrm>
            <a:off x="6784848" y="914400"/>
            <a:ext cx="2011680" cy="73152"/>
          </a:xfrm>
          <a:prstGeom prst="rect">
            <a:avLst/>
          </a:prstGeom>
          <a:solidFill>
            <a:srgbClr val="7AB850"/>
          </a:solidFill>
          <a:ln w="12700">
            <a:solidFill>
              <a:srgbClr val="7AB85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19"/>
          <p:cNvSpPr/>
          <p:nvPr/>
        </p:nvSpPr>
        <p:spPr>
          <a:xfrm>
            <a:off x="7452360" y="1097280"/>
            <a:ext cx="658368" cy="658368"/>
          </a:xfrm>
          <a:prstGeom prst="ellipse">
            <a:avLst/>
          </a:prstGeom>
          <a:solidFill>
            <a:srgbClr val="7AB850"/>
          </a:solidFill>
          <a:ln w="12700">
            <a:solidFill>
              <a:srgbClr val="7AB85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9792" y="1124712"/>
            <a:ext cx="603504" cy="60350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94576" y="1920240"/>
            <a:ext cx="1792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 &amp; Aziende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Distribuite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894576" y="2606040"/>
            <a:ext cx="17922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distribuiti con comunicazione sicura, tracking device aziendali e controllo accessi centralizzato.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12700">
            <a:solidFill>
              <a:srgbClr val="B0E0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9" name="Image 4" descr="/mnt/user-data/outputs/Logo_SecureChat_transpar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4919472"/>
            <a:ext cx="1371600" cy="4663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3657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SECURECHAT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con i principali strumenti enterprise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377440" cy="384048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228600" y="9144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914400"/>
            <a:ext cx="1325880" cy="384048"/>
          </a:xfrm>
          <a:prstGeom prst="rect">
            <a:avLst/>
          </a:prstGeom>
          <a:solidFill>
            <a:srgbClr val="5CBDB0"/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2606040" y="9144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SecureChat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31920" y="914400"/>
            <a:ext cx="1325880" cy="384048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931920" y="91440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57800" y="914400"/>
            <a:ext cx="1234440" cy="384048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257800" y="9144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92240" y="914400"/>
            <a:ext cx="1234440" cy="384048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492240" y="9144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26680" y="914400"/>
            <a:ext cx="1280160" cy="384048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7726680" y="9144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Teams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1298448"/>
            <a:ext cx="23774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228600" y="1298448"/>
            <a:ext cx="2377440" cy="40233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messaggi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06040" y="1298448"/>
            <a:ext cx="1325880" cy="402336"/>
          </a:xfrm>
          <a:prstGeom prst="rect">
            <a:avLst/>
          </a:prstGeom>
          <a:solidFill>
            <a:srgbClr val="D5F0EA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2606040" y="129844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931920" y="1298448"/>
            <a:ext cx="1325880" cy="402336"/>
          </a:xfrm>
          <a:prstGeom prst="rect">
            <a:avLst/>
          </a:prstGeom>
          <a:solidFill>
            <a:srgbClr val="E8F5E0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3931920" y="129844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257800" y="1298448"/>
            <a:ext cx="1234440" cy="402336"/>
          </a:xfrm>
          <a:prstGeom prst="rect">
            <a:avLst/>
          </a:prstGeom>
          <a:solidFill>
            <a:srgbClr val="E8F5E0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5257800" y="129844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92240" y="1298448"/>
            <a:ext cx="12344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6492240" y="129844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Parz.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26680" y="1298448"/>
            <a:ext cx="1280160" cy="402336"/>
          </a:xfrm>
          <a:prstGeom prst="rect">
            <a:avLst/>
          </a:prstGeom>
          <a:solidFill>
            <a:srgbClr val="FFF0F0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7726680" y="129844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28600" y="1737360"/>
            <a:ext cx="2377440" cy="402336"/>
          </a:xfrm>
          <a:prstGeom prst="rect">
            <a:avLst/>
          </a:prstGeom>
          <a:solidFill>
            <a:srgbClr val="F0F6FC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228600" y="1737360"/>
            <a:ext cx="2377440" cy="40233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chiamate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606040" y="1737360"/>
            <a:ext cx="1325880" cy="402336"/>
          </a:xfrm>
          <a:prstGeom prst="rect">
            <a:avLst/>
          </a:prstGeom>
          <a:solidFill>
            <a:srgbClr val="D5F0EA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2606040" y="173736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931920" y="1737360"/>
            <a:ext cx="1325880" cy="402336"/>
          </a:xfrm>
          <a:prstGeom prst="rect">
            <a:avLst/>
          </a:prstGeom>
          <a:solidFill>
            <a:srgbClr val="E8F5E0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3931920" y="173736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257800" y="1737360"/>
            <a:ext cx="1234440" cy="402336"/>
          </a:xfrm>
          <a:prstGeom prst="rect">
            <a:avLst/>
          </a:prstGeom>
          <a:solidFill>
            <a:srgbClr val="E8F5E0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5257800" y="173736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492240" y="1737360"/>
            <a:ext cx="1234440" cy="402336"/>
          </a:xfrm>
          <a:prstGeom prst="rect">
            <a:avLst/>
          </a:prstGeom>
          <a:solidFill>
            <a:srgbClr val="FFF0F0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6492240" y="173736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726680" y="1737360"/>
            <a:ext cx="1280160" cy="402336"/>
          </a:xfrm>
          <a:prstGeom prst="rect">
            <a:avLst/>
          </a:prstGeom>
          <a:solidFill>
            <a:srgbClr val="FFF0F0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7726680" y="17373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28600" y="2176272"/>
            <a:ext cx="23774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228600" y="2176272"/>
            <a:ext cx="2377440" cy="40233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proprietario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606040" y="2176272"/>
            <a:ext cx="1325880" cy="402336"/>
          </a:xfrm>
          <a:prstGeom prst="rect">
            <a:avLst/>
          </a:prstGeom>
          <a:solidFill>
            <a:srgbClr val="D5F0EA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2606040" y="217627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931920" y="2176272"/>
            <a:ext cx="1325880" cy="402336"/>
          </a:xfrm>
          <a:prstGeom prst="rect">
            <a:avLst/>
          </a:prstGeom>
          <a:solidFill>
            <a:srgbClr val="FFF0F0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3931920" y="217627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257800" y="2176272"/>
            <a:ext cx="1234440" cy="402336"/>
          </a:xfrm>
          <a:prstGeom prst="rect">
            <a:avLst/>
          </a:prstGeom>
          <a:solidFill>
            <a:srgbClr val="FFF0F0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5257800" y="217627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492240" y="2176272"/>
            <a:ext cx="1234440" cy="402336"/>
          </a:xfrm>
          <a:prstGeom prst="rect">
            <a:avLst/>
          </a:prstGeom>
          <a:solidFill>
            <a:srgbClr val="FFF0F0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8"/>
          <p:cNvSpPr/>
          <p:nvPr/>
        </p:nvSpPr>
        <p:spPr>
          <a:xfrm>
            <a:off x="6492240" y="217627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7726680" y="2176272"/>
            <a:ext cx="1280160" cy="402336"/>
          </a:xfrm>
          <a:prstGeom prst="rect">
            <a:avLst/>
          </a:prstGeom>
          <a:solidFill>
            <a:srgbClr val="FFF0F0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50"/>
          <p:cNvSpPr/>
          <p:nvPr/>
        </p:nvSpPr>
        <p:spPr>
          <a:xfrm>
            <a:off x="7726680" y="217627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228600" y="2615184"/>
            <a:ext cx="2377440" cy="402336"/>
          </a:xfrm>
          <a:prstGeom prst="rect">
            <a:avLst/>
          </a:prstGeom>
          <a:solidFill>
            <a:srgbClr val="F0F6FC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4" name="Text 52"/>
          <p:cNvSpPr/>
          <p:nvPr/>
        </p:nvSpPr>
        <p:spPr>
          <a:xfrm>
            <a:off x="228600" y="2615184"/>
            <a:ext cx="2377440" cy="40233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606040" y="2615184"/>
            <a:ext cx="1325880" cy="402336"/>
          </a:xfrm>
          <a:prstGeom prst="rect">
            <a:avLst/>
          </a:prstGeom>
          <a:solidFill>
            <a:srgbClr val="D5F0EA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6" name="Text 54"/>
          <p:cNvSpPr/>
          <p:nvPr/>
        </p:nvSpPr>
        <p:spPr>
          <a:xfrm>
            <a:off x="2606040" y="2615184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3931920" y="2615184"/>
            <a:ext cx="1325880" cy="402336"/>
          </a:xfrm>
          <a:prstGeom prst="rect">
            <a:avLst/>
          </a:prstGeom>
          <a:solidFill>
            <a:srgbClr val="FFF0F0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56"/>
          <p:cNvSpPr/>
          <p:nvPr/>
        </p:nvSpPr>
        <p:spPr>
          <a:xfrm>
            <a:off x="3931920" y="2615184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257800" y="2615184"/>
            <a:ext cx="1234440" cy="402336"/>
          </a:xfrm>
          <a:prstGeom prst="rect">
            <a:avLst/>
          </a:prstGeom>
          <a:solidFill>
            <a:srgbClr val="FFF0F0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0" name="Text 58"/>
          <p:cNvSpPr/>
          <p:nvPr/>
        </p:nvSpPr>
        <p:spPr>
          <a:xfrm>
            <a:off x="5257800" y="261518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492240" y="2615184"/>
            <a:ext cx="1234440" cy="402336"/>
          </a:xfrm>
          <a:prstGeom prst="rect">
            <a:avLst/>
          </a:prstGeom>
          <a:solidFill>
            <a:srgbClr val="FFF0F0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2" name="Text 60"/>
          <p:cNvSpPr/>
          <p:nvPr/>
        </p:nvSpPr>
        <p:spPr>
          <a:xfrm>
            <a:off x="6492240" y="261518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7726680" y="2615184"/>
            <a:ext cx="1280160" cy="402336"/>
          </a:xfrm>
          <a:prstGeom prst="rect">
            <a:avLst/>
          </a:prstGeom>
          <a:solidFill>
            <a:srgbClr val="E8F5E0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Text 62"/>
          <p:cNvSpPr/>
          <p:nvPr/>
        </p:nvSpPr>
        <p:spPr>
          <a:xfrm>
            <a:off x="7726680" y="261518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228600" y="3054096"/>
            <a:ext cx="23774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6" name="Text 64"/>
          <p:cNvSpPr/>
          <p:nvPr/>
        </p:nvSpPr>
        <p:spPr>
          <a:xfrm>
            <a:off x="228600" y="3054096"/>
            <a:ext cx="2377440" cy="40233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management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606040" y="3054096"/>
            <a:ext cx="1325880" cy="402336"/>
          </a:xfrm>
          <a:prstGeom prst="rect">
            <a:avLst/>
          </a:prstGeom>
          <a:solidFill>
            <a:srgbClr val="D5F0EA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8" name="Text 66"/>
          <p:cNvSpPr/>
          <p:nvPr/>
        </p:nvSpPr>
        <p:spPr>
          <a:xfrm>
            <a:off x="2606040" y="3054096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3931920" y="3054096"/>
            <a:ext cx="1325880" cy="402336"/>
          </a:xfrm>
          <a:prstGeom prst="rect">
            <a:avLst/>
          </a:prstGeom>
          <a:solidFill>
            <a:srgbClr val="FFF0F0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0" name="Text 68"/>
          <p:cNvSpPr/>
          <p:nvPr/>
        </p:nvSpPr>
        <p:spPr>
          <a:xfrm>
            <a:off x="3931920" y="3054096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5257800" y="3054096"/>
            <a:ext cx="1234440" cy="402336"/>
          </a:xfrm>
          <a:prstGeom prst="rect">
            <a:avLst/>
          </a:prstGeom>
          <a:solidFill>
            <a:srgbClr val="FFF0F0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2" name="Text 70"/>
          <p:cNvSpPr/>
          <p:nvPr/>
        </p:nvSpPr>
        <p:spPr>
          <a:xfrm>
            <a:off x="5257800" y="305409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6492240" y="3054096"/>
            <a:ext cx="1234440" cy="402336"/>
          </a:xfrm>
          <a:prstGeom prst="rect">
            <a:avLst/>
          </a:prstGeom>
          <a:solidFill>
            <a:srgbClr val="FFF0F0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4" name="Text 72"/>
          <p:cNvSpPr/>
          <p:nvPr/>
        </p:nvSpPr>
        <p:spPr>
          <a:xfrm>
            <a:off x="6492240" y="305409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7726680" y="3054096"/>
            <a:ext cx="1280160" cy="402336"/>
          </a:xfrm>
          <a:prstGeom prst="rect">
            <a:avLst/>
          </a:prstGeom>
          <a:solidFill>
            <a:srgbClr val="E8F5E0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6" name="Text 74"/>
          <p:cNvSpPr/>
          <p:nvPr/>
        </p:nvSpPr>
        <p:spPr>
          <a:xfrm>
            <a:off x="7726680" y="305409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228600" y="3493008"/>
            <a:ext cx="2377440" cy="402336"/>
          </a:xfrm>
          <a:prstGeom prst="rect">
            <a:avLst/>
          </a:prstGeom>
          <a:solidFill>
            <a:srgbClr val="F0F6FC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8" name="Text 76"/>
          <p:cNvSpPr/>
          <p:nvPr/>
        </p:nvSpPr>
        <p:spPr>
          <a:xfrm>
            <a:off x="228600" y="3493008"/>
            <a:ext cx="2377440" cy="40233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tracking device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2606040" y="3493008"/>
            <a:ext cx="1325880" cy="402336"/>
          </a:xfrm>
          <a:prstGeom prst="rect">
            <a:avLst/>
          </a:prstGeom>
          <a:solidFill>
            <a:srgbClr val="D5F0EA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0" name="Text 78"/>
          <p:cNvSpPr/>
          <p:nvPr/>
        </p:nvSpPr>
        <p:spPr>
          <a:xfrm>
            <a:off x="2606040" y="349300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3931920" y="3493008"/>
            <a:ext cx="1325880" cy="402336"/>
          </a:xfrm>
          <a:prstGeom prst="rect">
            <a:avLst/>
          </a:prstGeom>
          <a:solidFill>
            <a:srgbClr val="FFF0F0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2" name="Text 80"/>
          <p:cNvSpPr/>
          <p:nvPr/>
        </p:nvSpPr>
        <p:spPr>
          <a:xfrm>
            <a:off x="3931920" y="3493008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5257800" y="3493008"/>
            <a:ext cx="1234440" cy="402336"/>
          </a:xfrm>
          <a:prstGeom prst="rect">
            <a:avLst/>
          </a:prstGeom>
          <a:solidFill>
            <a:srgbClr val="FFF0F0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4" name="Text 82"/>
          <p:cNvSpPr/>
          <p:nvPr/>
        </p:nvSpPr>
        <p:spPr>
          <a:xfrm>
            <a:off x="5257800" y="349300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6492240" y="3493008"/>
            <a:ext cx="1234440" cy="402336"/>
          </a:xfrm>
          <a:prstGeom prst="rect">
            <a:avLst/>
          </a:prstGeom>
          <a:solidFill>
            <a:srgbClr val="FFF0F0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6" name="Text 84"/>
          <p:cNvSpPr/>
          <p:nvPr/>
        </p:nvSpPr>
        <p:spPr>
          <a:xfrm>
            <a:off x="6492240" y="349300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7726680" y="3493008"/>
            <a:ext cx="1280160" cy="402336"/>
          </a:xfrm>
          <a:prstGeom prst="rect">
            <a:avLst/>
          </a:prstGeom>
          <a:solidFill>
            <a:srgbClr val="FFF0F0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8" name="Text 86"/>
          <p:cNvSpPr/>
          <p:nvPr/>
        </p:nvSpPr>
        <p:spPr>
          <a:xfrm>
            <a:off x="7726680" y="349300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228600" y="3931920"/>
            <a:ext cx="23774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0" name="Text 88"/>
          <p:cNvSpPr/>
          <p:nvPr/>
        </p:nvSpPr>
        <p:spPr>
          <a:xfrm>
            <a:off x="228600" y="3931920"/>
            <a:ext cx="2377440" cy="40233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in EU (GDPR)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2606040" y="3931920"/>
            <a:ext cx="1325880" cy="402336"/>
          </a:xfrm>
          <a:prstGeom prst="rect">
            <a:avLst/>
          </a:prstGeom>
          <a:solidFill>
            <a:srgbClr val="D5F0EA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2" name="Text 90"/>
          <p:cNvSpPr/>
          <p:nvPr/>
        </p:nvSpPr>
        <p:spPr>
          <a:xfrm>
            <a:off x="2606040" y="393192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3" name="Shape 91"/>
          <p:cNvSpPr/>
          <p:nvPr/>
        </p:nvSpPr>
        <p:spPr>
          <a:xfrm>
            <a:off x="3931920" y="3931920"/>
            <a:ext cx="1325880" cy="402336"/>
          </a:xfrm>
          <a:prstGeom prst="rect">
            <a:avLst/>
          </a:prstGeom>
          <a:solidFill>
            <a:srgbClr val="FFF0F0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4" name="Text 92"/>
          <p:cNvSpPr/>
          <p:nvPr/>
        </p:nvSpPr>
        <p:spPr>
          <a:xfrm>
            <a:off x="3931920" y="393192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95" name="Shape 93"/>
          <p:cNvSpPr/>
          <p:nvPr/>
        </p:nvSpPr>
        <p:spPr>
          <a:xfrm>
            <a:off x="5257800" y="3931920"/>
            <a:ext cx="1234440" cy="402336"/>
          </a:xfrm>
          <a:prstGeom prst="rect">
            <a:avLst/>
          </a:prstGeom>
          <a:solidFill>
            <a:srgbClr val="FFF0F0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6" name="Text 94"/>
          <p:cNvSpPr/>
          <p:nvPr/>
        </p:nvSpPr>
        <p:spPr>
          <a:xfrm>
            <a:off x="5257800" y="393192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97" name="Shape 95"/>
          <p:cNvSpPr/>
          <p:nvPr/>
        </p:nvSpPr>
        <p:spPr>
          <a:xfrm>
            <a:off x="6492240" y="3931920"/>
            <a:ext cx="1234440" cy="402336"/>
          </a:xfrm>
          <a:prstGeom prst="rect">
            <a:avLst/>
          </a:prstGeom>
          <a:solidFill>
            <a:srgbClr val="FFF0F0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8" name="Text 96"/>
          <p:cNvSpPr/>
          <p:nvPr/>
        </p:nvSpPr>
        <p:spPr>
          <a:xfrm>
            <a:off x="6492240" y="393192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99" name="Shape 97"/>
          <p:cNvSpPr/>
          <p:nvPr/>
        </p:nvSpPr>
        <p:spPr>
          <a:xfrm>
            <a:off x="7726680" y="3931920"/>
            <a:ext cx="128016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0" name="Text 98"/>
          <p:cNvSpPr/>
          <p:nvPr/>
        </p:nvSpPr>
        <p:spPr>
          <a:xfrm>
            <a:off x="7726680" y="393192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Parz.</a:t>
            </a:r>
            <a:endParaRPr lang="en-US" sz="1400" dirty="0"/>
          </a:p>
        </p:txBody>
      </p:sp>
      <p:sp>
        <p:nvSpPr>
          <p:cNvPr id="101" name="Shape 99"/>
          <p:cNvSpPr/>
          <p:nvPr/>
        </p:nvSpPr>
        <p:spPr>
          <a:xfrm>
            <a:off x="228600" y="4370832"/>
            <a:ext cx="2377440" cy="402336"/>
          </a:xfrm>
          <a:prstGeom prst="rect">
            <a:avLst/>
          </a:prstGeom>
          <a:solidFill>
            <a:srgbClr val="F0F6FC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2" name="Text 100"/>
          <p:cNvSpPr/>
          <p:nvPr/>
        </p:nvSpPr>
        <p:spPr>
          <a:xfrm>
            <a:off x="228600" y="4370832"/>
            <a:ext cx="2377440" cy="402336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deploy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2606040" y="4370832"/>
            <a:ext cx="1325880" cy="402336"/>
          </a:xfrm>
          <a:prstGeom prst="rect">
            <a:avLst/>
          </a:prstGeom>
          <a:solidFill>
            <a:srgbClr val="D5F0EA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4" name="Text 102"/>
          <p:cNvSpPr/>
          <p:nvPr/>
        </p:nvSpPr>
        <p:spPr>
          <a:xfrm>
            <a:off x="2606040" y="437083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5" name="Shape 103"/>
          <p:cNvSpPr/>
          <p:nvPr/>
        </p:nvSpPr>
        <p:spPr>
          <a:xfrm>
            <a:off x="3931920" y="4370832"/>
            <a:ext cx="1325880" cy="402336"/>
          </a:xfrm>
          <a:prstGeom prst="rect">
            <a:avLst/>
          </a:prstGeom>
          <a:solidFill>
            <a:srgbClr val="FFF0F0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6" name="Text 104"/>
          <p:cNvSpPr/>
          <p:nvPr/>
        </p:nvSpPr>
        <p:spPr>
          <a:xfrm>
            <a:off x="3931920" y="4370832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07" name="Shape 105"/>
          <p:cNvSpPr/>
          <p:nvPr/>
        </p:nvSpPr>
        <p:spPr>
          <a:xfrm>
            <a:off x="5257800" y="4370832"/>
            <a:ext cx="1234440" cy="402336"/>
          </a:xfrm>
          <a:prstGeom prst="rect">
            <a:avLst/>
          </a:prstGeom>
          <a:solidFill>
            <a:srgbClr val="FFF0F0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8" name="Text 106"/>
          <p:cNvSpPr/>
          <p:nvPr/>
        </p:nvSpPr>
        <p:spPr>
          <a:xfrm>
            <a:off x="5257800" y="437083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09" name="Shape 107"/>
          <p:cNvSpPr/>
          <p:nvPr/>
        </p:nvSpPr>
        <p:spPr>
          <a:xfrm>
            <a:off x="6492240" y="4370832"/>
            <a:ext cx="1234440" cy="402336"/>
          </a:xfrm>
          <a:prstGeom prst="rect">
            <a:avLst/>
          </a:prstGeom>
          <a:solidFill>
            <a:srgbClr val="E8F5E0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0" name="Text 108"/>
          <p:cNvSpPr/>
          <p:nvPr/>
        </p:nvSpPr>
        <p:spPr>
          <a:xfrm>
            <a:off x="6492240" y="437083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1" name="Shape 109"/>
          <p:cNvSpPr/>
          <p:nvPr/>
        </p:nvSpPr>
        <p:spPr>
          <a:xfrm>
            <a:off x="7726680" y="4370832"/>
            <a:ext cx="1280160" cy="402336"/>
          </a:xfrm>
          <a:prstGeom prst="rect">
            <a:avLst/>
          </a:prstGeom>
          <a:solidFill>
            <a:srgbClr val="F0F6FC"/>
          </a:solidFill>
          <a:ln w="63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2" name="Text 110"/>
          <p:cNvSpPr/>
          <p:nvPr/>
        </p:nvSpPr>
        <p:spPr>
          <a:xfrm>
            <a:off x="7726680" y="43708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Parz.</a:t>
            </a:r>
            <a:endParaRPr lang="en-US" sz="1400" dirty="0"/>
          </a:p>
        </p:txBody>
      </p:sp>
      <p:sp>
        <p:nvSpPr>
          <p:cNvPr id="113" name="Shape 111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14" name="Image 0" descr="/mnt/user-data/outputs/Logo_SecureChat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919472"/>
            <a:ext cx="1371600" cy="4663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2A8C84">
              <a:alpha val="15000"/>
            </a:srgbClr>
          </a:solidFill>
          <a:ln w="12700">
            <a:solidFill>
              <a:srgbClr val="2A8C84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C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INFRASTRUTTURA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tecnologico enterprise-grade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029200" cy="594360"/>
          </a:xfrm>
          <a:prstGeom prst="rect">
            <a:avLst/>
          </a:prstGeom>
          <a:solidFill>
            <a:srgbClr val="2D3A5C">
              <a:alpha val="60000"/>
            </a:srgbClr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73152" cy="594360"/>
          </a:xfrm>
          <a:prstGeom prst="rect">
            <a:avLst/>
          </a:prstGeom>
          <a:solidFill>
            <a:srgbClr val="5CBDB0"/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66928" y="11887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65960" y="11887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3.41 · Swift · CallKit · WebRTC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01952"/>
            <a:ext cx="5029200" cy="594360"/>
          </a:xfrm>
          <a:prstGeom prst="rect">
            <a:avLst/>
          </a:prstGeom>
          <a:solidFill>
            <a:srgbClr val="2D3A5C">
              <a:alpha val="60000"/>
            </a:srgbClr>
          </a:solidFill>
          <a:ln w="12700">
            <a:solidFill>
              <a:srgbClr val="5AAE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365760" y="1901952"/>
            <a:ext cx="73152" cy="594360"/>
          </a:xfrm>
          <a:prstGeom prst="rect">
            <a:avLst/>
          </a:prstGeom>
          <a:solidFill>
            <a:srgbClr val="5AAEE0"/>
          </a:solidFill>
          <a:ln w="12700">
            <a:solidFill>
              <a:srgbClr val="5AAE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66928" y="190195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65960" y="190195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4 · DRF · Daphne · Celery · MySQL 8 · Redis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15184"/>
            <a:ext cx="5029200" cy="594360"/>
          </a:xfrm>
          <a:prstGeom prst="rect">
            <a:avLst/>
          </a:prstGeom>
          <a:solidFill>
            <a:srgbClr val="2D3A5C">
              <a:alpha val="60000"/>
            </a:srgbClr>
          </a:solidFill>
          <a:ln w="12700">
            <a:solidFill>
              <a:srgbClr val="2D3A5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365760" y="2615184"/>
            <a:ext cx="73152" cy="594360"/>
          </a:xfrm>
          <a:prstGeom prst="rect">
            <a:avLst/>
          </a:prstGeom>
          <a:solidFill>
            <a:srgbClr val="2D3A5C"/>
          </a:solidFill>
          <a:ln w="12700">
            <a:solidFill>
              <a:srgbClr val="2D3A5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66928" y="261518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Infrastruttura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65960" y="261518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DigitalOcean · Docker Compose · Ubuntu 24 · Nginx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28416"/>
            <a:ext cx="5029200" cy="594360"/>
          </a:xfrm>
          <a:prstGeom prst="rect">
            <a:avLst/>
          </a:prstGeom>
          <a:solidFill>
            <a:srgbClr val="2D3A5C">
              <a:alpha val="60000"/>
            </a:srgbClr>
          </a:solidFill>
          <a:ln w="12700">
            <a:solidFill>
              <a:srgbClr val="2A8C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365760" y="3328416"/>
            <a:ext cx="73152" cy="594360"/>
          </a:xfrm>
          <a:prstGeom prst="rect">
            <a:avLst/>
          </a:prstGeom>
          <a:solidFill>
            <a:srgbClr val="2A8C84"/>
          </a:solidFill>
          <a:ln w="12700">
            <a:solidFill>
              <a:srgbClr val="2A8C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66928" y="3328416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8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65960" y="332841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DigitalOcean Spaces (fra1) · Backup automatico · GDPR EU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041648"/>
            <a:ext cx="5029200" cy="594360"/>
          </a:xfrm>
          <a:prstGeom prst="rect">
            <a:avLst/>
          </a:prstGeom>
          <a:solidFill>
            <a:srgbClr val="2D3A5C">
              <a:alpha val="60000"/>
            </a:srgbClr>
          </a:solidFill>
          <a:ln w="12700">
            <a:solidFill>
              <a:srgbClr val="7AB85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365760" y="4041648"/>
            <a:ext cx="73152" cy="594360"/>
          </a:xfrm>
          <a:prstGeom prst="rect">
            <a:avLst/>
          </a:prstGeom>
          <a:solidFill>
            <a:srgbClr val="7AB850"/>
          </a:solidFill>
          <a:ln w="12700">
            <a:solidFill>
              <a:srgbClr val="7AB85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566928" y="404164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B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Notifiche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65960" y="404164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APNs produzione · Notify Server WebSocket proprietario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0" y="1188720"/>
            <a:ext cx="3017520" cy="1051560"/>
          </a:xfrm>
          <a:prstGeom prst="rect">
            <a:avLst/>
          </a:prstGeom>
          <a:solidFill>
            <a:srgbClr val="2A8C84">
              <a:alpha val="50000"/>
            </a:srgbClr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5669280" y="11887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5669280" y="175564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attivi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60720" y="2468880"/>
            <a:ext cx="3017520" cy="1051560"/>
          </a:xfrm>
          <a:prstGeom prst="rect">
            <a:avLst/>
          </a:prstGeom>
          <a:solidFill>
            <a:srgbClr val="2A8C84">
              <a:alpha val="50000"/>
            </a:srgbClr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5760720" y="24688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5760720" y="303580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Datacenter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Francoforte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852160" y="3749040"/>
            <a:ext cx="3017520" cy="1051560"/>
          </a:xfrm>
          <a:prstGeom prst="rect">
            <a:avLst/>
          </a:prstGeom>
          <a:solidFill>
            <a:srgbClr val="2A8C84">
              <a:alpha val="50000"/>
            </a:srgbClr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5852160" y="37490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26+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5852160" y="431596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040"/>
          </a:solidFill>
          <a:ln w="12700">
            <a:solidFill>
              <a:srgbClr val="1E204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840480" cy="457200"/>
          </a:xfrm>
          <a:prstGeom prst="rect">
            <a:avLst/>
          </a:prstGeom>
          <a:solidFill>
            <a:srgbClr val="7AB850"/>
          </a:solidFill>
          <a:ln w="12700">
            <a:solidFill>
              <a:srgbClr val="7AB85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COMPLETATO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1536192"/>
            <a:ext cx="201168" cy="201168"/>
          </a:xfrm>
          <a:prstGeom prst="ellipse">
            <a:avLst/>
          </a:prstGeom>
          <a:solidFill>
            <a:srgbClr val="7AB850"/>
          </a:solidFill>
          <a:ln w="12700">
            <a:solidFill>
              <a:srgbClr val="7AB85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676656" y="1508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Architettura Flutter iOS + Django + MySQL + Redis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901952"/>
            <a:ext cx="201168" cy="201168"/>
          </a:xfrm>
          <a:prstGeom prst="ellipse">
            <a:avLst/>
          </a:prstGeom>
          <a:solidFill>
            <a:srgbClr val="7AB850"/>
          </a:solidFill>
          <a:ln w="12700">
            <a:solidFill>
              <a:srgbClr val="7AB85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76656" y="18745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cifratura Signal Protocol (X3DH + Double Ratchet)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2267712"/>
            <a:ext cx="201168" cy="201168"/>
          </a:xfrm>
          <a:prstGeom prst="ellipse">
            <a:avLst/>
          </a:prstGeom>
          <a:solidFill>
            <a:srgbClr val="7AB850"/>
          </a:solidFill>
          <a:ln w="12700">
            <a:solidFill>
              <a:srgbClr val="7AB85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76656" y="22402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Persistenza chiavi Keychain iOS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2633472"/>
            <a:ext cx="201168" cy="201168"/>
          </a:xfrm>
          <a:prstGeom prst="ellipse">
            <a:avLst/>
          </a:prstGeom>
          <a:solidFill>
            <a:srgbClr val="7AB850"/>
          </a:solidFill>
          <a:ln w="12700">
            <a:solidFill>
              <a:srgbClr val="7AB85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76656" y="26060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VoIP CallKit — ricezione app killed (PKPush)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" y="2999232"/>
            <a:ext cx="201168" cy="201168"/>
          </a:xfrm>
          <a:prstGeom prst="ellipse">
            <a:avLst/>
          </a:prstGeom>
          <a:solidFill>
            <a:srgbClr val="7AB850"/>
          </a:solidFill>
          <a:ln w="12700">
            <a:solidFill>
              <a:srgbClr val="7AB85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76656" y="29718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audio/video con DTLS-SRTP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3364992"/>
            <a:ext cx="201168" cy="201168"/>
          </a:xfrm>
          <a:prstGeom prst="ellipse">
            <a:avLst/>
          </a:prstGeom>
          <a:solidFill>
            <a:srgbClr val="7AB850"/>
          </a:solidFill>
          <a:ln w="12700">
            <a:solidFill>
              <a:srgbClr val="7AB85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676656" y="33375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Notifiche APNs produzione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" y="3730752"/>
            <a:ext cx="201168" cy="201168"/>
          </a:xfrm>
          <a:prstGeom prst="ellipse">
            <a:avLst/>
          </a:prstGeom>
          <a:solidFill>
            <a:srgbClr val="7AB850"/>
          </a:solidFill>
          <a:ln w="12700">
            <a:solidFill>
              <a:srgbClr val="7AB85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76656" y="37033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device tracking — admin panel 6 pagine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" y="4096512"/>
            <a:ext cx="201168" cy="201168"/>
          </a:xfrm>
          <a:prstGeom prst="ellipse">
            <a:avLst/>
          </a:prstGeom>
          <a:solidFill>
            <a:srgbClr val="7AB850"/>
          </a:solidFill>
          <a:ln w="12700">
            <a:solidFill>
              <a:srgbClr val="7AB85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676656" y="40690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DB su DigitalOcean Spaces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4048" y="4462272"/>
            <a:ext cx="201168" cy="201168"/>
          </a:xfrm>
          <a:prstGeom prst="ellipse">
            <a:avLst/>
          </a:prstGeom>
          <a:solidFill>
            <a:srgbClr val="7AB850"/>
          </a:solidFill>
          <a:ln w="12700">
            <a:solidFill>
              <a:srgbClr val="7AB85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676656" y="44348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Blocco device con logout forzato WebSocket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914400"/>
            <a:ext cx="4023360" cy="457200"/>
          </a:xfrm>
          <a:prstGeom prst="rect">
            <a:avLst/>
          </a:prstGeom>
          <a:solidFill>
            <a:srgbClr val="5CBDB0"/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4846320" y="914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IN ARRIVO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92040" y="1536192"/>
            <a:ext cx="1234440" cy="274320"/>
          </a:xfrm>
          <a:prstGeom prst="roundRect">
            <a:avLst>
              <a:gd name="adj" fmla="val 13333"/>
            </a:avLst>
          </a:prstGeom>
          <a:solidFill>
            <a:srgbClr val="2A8C84"/>
          </a:solidFill>
          <a:ln w="12700">
            <a:solidFill>
              <a:srgbClr val="2A8C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892040" y="15361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36208" y="15087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TestFlight — distribuzione beta iOS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2011680"/>
            <a:ext cx="1234440" cy="274320"/>
          </a:xfrm>
          <a:prstGeom prst="roundRect">
            <a:avLst>
              <a:gd name="adj" fmla="val 13333"/>
            </a:avLst>
          </a:prstGeom>
          <a:solidFill>
            <a:srgbClr val="5AAEE0"/>
          </a:solidFill>
          <a:ln w="12700">
            <a:solidFill>
              <a:srgbClr val="5AAE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892040" y="2011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Breve termine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36208" y="198424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SMTP (Brevo) — invio credenziali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92040" y="2487168"/>
            <a:ext cx="1234440" cy="274320"/>
          </a:xfrm>
          <a:prstGeom prst="roundRect">
            <a:avLst>
              <a:gd name="adj" fmla="val 13333"/>
            </a:avLst>
          </a:prstGeom>
          <a:solidFill>
            <a:srgbClr val="5AAEE0"/>
          </a:solidFill>
          <a:ln w="12700">
            <a:solidFill>
              <a:srgbClr val="5AAEE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4892040" y="24871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Breve termine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36208" y="245973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Messaggi storici — ripristino sessioni E2E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2962656"/>
            <a:ext cx="1234440" cy="274320"/>
          </a:xfrm>
          <a:prstGeom prst="roundRect">
            <a:avLst>
              <a:gd name="adj" fmla="val 13333"/>
            </a:avLst>
          </a:prstGeom>
          <a:solidFill>
            <a:srgbClr val="2D3A5C"/>
          </a:solidFill>
          <a:ln w="12700">
            <a:solidFill>
              <a:srgbClr val="2D3A5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4892040" y="29626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termine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36208" y="293522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Android — architettura già pronta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92040" y="3438144"/>
            <a:ext cx="1234440" cy="274320"/>
          </a:xfrm>
          <a:prstGeom prst="roundRect">
            <a:avLst>
              <a:gd name="adj" fmla="val 13333"/>
            </a:avLst>
          </a:prstGeom>
          <a:solidFill>
            <a:srgbClr val="2D3A5C"/>
          </a:solidFill>
          <a:ln w="12700">
            <a:solidFill>
              <a:srgbClr val="2D3A5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4892040" y="34381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termine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36208" y="34107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/ SOC 2 — avvio certificazione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92040" y="3913632"/>
            <a:ext cx="1234440" cy="274320"/>
          </a:xfrm>
          <a:prstGeom prst="roundRect">
            <a:avLst>
              <a:gd name="adj" fmla="val 13333"/>
            </a:avLst>
          </a:prstGeom>
          <a:solidFill>
            <a:srgbClr val="2D3A5C"/>
          </a:solidFill>
          <a:ln w="12700">
            <a:solidFill>
              <a:srgbClr val="2D3A5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4892040" y="39136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Lungo termine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36208" y="38862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disponibilità — multi-node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434840" y="1005840"/>
            <a:ext cx="0" cy="3749040"/>
          </a:xfrm>
          <a:prstGeom prst="line">
            <a:avLst/>
          </a:prstGeom>
          <a:noFill/>
          <a:ln w="1905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12700">
            <a:solidFill>
              <a:srgbClr val="E4E8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6" name="Image 0" descr="/mnt/user-data/outputs/Logo_SecureChat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919472"/>
            <a:ext cx="1371600" cy="4663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6400800" cy="6400800"/>
          </a:xfrm>
          <a:prstGeom prst="ellipse">
            <a:avLst/>
          </a:prstGeom>
          <a:solidFill>
            <a:srgbClr val="2A8C84">
              <a:alpha val="18000"/>
            </a:srgbClr>
          </a:solidFill>
          <a:ln w="12700">
            <a:solidFill>
              <a:srgbClr val="2A8C84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5CBDB0">
              <a:alpha val="12000"/>
            </a:srgbClr>
          </a:solidFill>
          <a:ln w="12700">
            <a:solidFill>
              <a:srgbClr val="5CBDB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BDB0"/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/mnt/user-data/outputs/Logo_SecureChat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2743200" cy="9326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5087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Pronti a proteggere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vostre comunicazioni.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31089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SecureChat è disponibile per una demo live.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0E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Contattaci per pianificare una presentazione personalizzata.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4023360"/>
            <a:ext cx="1920240" cy="475488"/>
          </a:xfrm>
          <a:prstGeom prst="roundRect">
            <a:avLst>
              <a:gd name="adj" fmla="val 11538"/>
            </a:avLst>
          </a:prstGeom>
          <a:solidFill>
            <a:srgbClr val="5CBDB0"/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45720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axphone.it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60320" y="4023360"/>
            <a:ext cx="1920240" cy="475488"/>
          </a:xfrm>
          <a:prstGeom prst="roundRect">
            <a:avLst>
              <a:gd name="adj" fmla="val 11538"/>
            </a:avLst>
          </a:prstGeom>
          <a:solidFill>
            <a:srgbClr val="5CBDB0"/>
          </a:solidFill>
          <a:ln w="12700">
            <a:solidFill>
              <a:srgbClr val="5CBDB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2560320" y="402336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info@axphone.it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54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Riservato — Marzo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860</Words>
  <Application>Microsoft Macintosh PowerPoint</Application>
  <PresentationFormat>Presentazione su schermo (16:9)</PresentationFormat>
  <Paragraphs>218</Paragraphs>
  <Slides>11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SecureChat — Presentazione Commerciale</dc:title>
  <dc:subject>PptxGenJS Presentation</dc:subject>
  <dc:creator>SecureChat Team</dc:creator>
  <cp:lastModifiedBy>Raffaele  Amoroso</cp:lastModifiedBy>
  <cp:revision>2</cp:revision>
  <dcterms:created xsi:type="dcterms:W3CDTF">2026-03-16T21:38:00Z</dcterms:created>
  <dcterms:modified xsi:type="dcterms:W3CDTF">2026-03-16T21:41:31Z</dcterms:modified>
</cp:coreProperties>
</file>